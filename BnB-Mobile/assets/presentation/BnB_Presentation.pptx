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502920"/>
            <a:ext cx="50292" cy="5852160"/>
          </a:xfrm>
          <a:prstGeom prst="rect">
            <a:avLst/>
          </a:prstGeom>
          <a:solidFill>
            <a:srgbClr val="7C5CFC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pad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8760"/>
            <a:ext cx="2057400" cy="2057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298448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200" b="1" i="0">
                <a:solidFill>
                  <a:srgbClr val="B69EFF"/>
                </a:solidFill>
              </a:rPr>
              <a:t>B&amp;B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2670048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6B7A9F"/>
                </a:solidFill>
              </a:rPr>
              <a:t>REAL ESTATE &amp; HOME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71800" y="3127248"/>
            <a:ext cx="7132320" cy="22860"/>
          </a:xfrm>
          <a:prstGeom prst="rect">
            <a:avLst/>
          </a:prstGeom>
          <a:solidFill>
            <a:srgbClr val="7C5CFC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800" y="3246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DDA"/>
                </a:solidFill>
              </a:rPr>
              <a:t>Premium Property &amp; Service Platform  |  Mobile Application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971800" y="3767328"/>
            <a:ext cx="8961120" cy="2724912"/>
          </a:xfrm>
          <a:prstGeom prst="rect">
            <a:avLst/>
          </a:prstGeom>
          <a:solidFill>
            <a:srgbClr val="0D1424"/>
          </a:solidFill>
          <a:ln w="889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71800" y="3767328"/>
            <a:ext cx="8961120" cy="22860"/>
          </a:xfrm>
          <a:prstGeom prst="rect">
            <a:avLst/>
          </a:prstGeom>
          <a:solidFill>
            <a:srgbClr val="7C5CFC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27832" y="39502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7A9F"/>
                </a:solidFill>
              </a:rPr>
              <a:t>TEAM LEADER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7832" y="419709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B69EFF"/>
                </a:solidFill>
              </a:rPr>
              <a:t>يوسف حسن محمد محمود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7832" y="459028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FC3F7"/>
                </a:solidFill>
              </a:rPr>
              <a:t>Team Leader  |  ID: 2320751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27832" y="4928616"/>
            <a:ext cx="8449056" cy="13716"/>
          </a:xfrm>
          <a:prstGeom prst="rect">
            <a:avLst/>
          </a:prstGeom>
          <a:solidFill>
            <a:srgbClr val="131C30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7832" y="502005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7A9F"/>
                </a:solidFill>
              </a:rPr>
              <a:t>TEAM MEMBERS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27832" y="5276088"/>
            <a:ext cx="4251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DDA"/>
                </a:solidFill>
              </a:rPr>
              <a:t>ياسر علاء إبراهيم  —  2320731  |  Sec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27832" y="5490972"/>
            <a:ext cx="4251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DDA"/>
                </a:solidFill>
              </a:rPr>
              <a:t>يوسف محمد عيد رزق  —  2320766  |  Sec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27832" y="5705856"/>
            <a:ext cx="4251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DDA"/>
                </a:solidFill>
              </a:rPr>
              <a:t>يوسف مصطفى كامل  —  2320771  |  Sec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27832" y="5920740"/>
            <a:ext cx="4251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DDA"/>
                </a:solidFill>
              </a:rPr>
              <a:t>عمر ذكي محمد ذكي  —  2320405  |  Sec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27832" y="6135624"/>
            <a:ext cx="4251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DDA"/>
                </a:solidFill>
              </a:rPr>
              <a:t>رحمه عبدالحميد فؤاد  —  2320223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527608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DDA"/>
                </a:solidFill>
              </a:rPr>
              <a:t>أحمد محمد محمود عبدالكريم  —  2320904  |  Sec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5490972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DDA"/>
                </a:solidFill>
              </a:rPr>
              <a:t>بثينة مجدي أحمد محمد  —  2320157  |  Sec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5705856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DDA"/>
                </a:solidFill>
              </a:rPr>
              <a:t>مازن محمد إسماعيل أحمد  —  2320470  |  Sec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592074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DDA"/>
                </a:solidFill>
              </a:rPr>
              <a:t>خلود عاطف عبداللطيف والى  —  2320213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4552" y="20116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B7A9F"/>
                </a:solidFill>
              </a:rPr>
              <a:t>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5912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A9F"/>
                </a:solidFill>
              </a:rPr>
              <a:t>01 /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A9F"/>
                </a:solidFill>
              </a:rPr>
              <a:t>B&amp;B  Real Estate &amp; Home Services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502920"/>
            <a:ext cx="50292" cy="5852160"/>
          </a:xfrm>
          <a:prstGeom prst="rect">
            <a:avLst/>
          </a:prstGeom>
          <a:solidFill>
            <a:srgbClr val="7C5CFC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7A9F"/>
                </a:solidFill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0F4FF"/>
                </a:solidFill>
              </a:rPr>
              <a:t>What is B&amp;B?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3840480" cy="25603"/>
          </a:xfrm>
          <a:prstGeom prst="rect">
            <a:avLst/>
          </a:prstGeom>
          <a:solidFill>
            <a:srgbClr val="7C5CFC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pad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164592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627632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DDA"/>
                </a:solidFill>
              </a:rPr>
              <a:t>B&amp;B is a full-stack real estate and home services platform connecting property owners,
buyers, and skilled workers through an elegant, premium mobile experience.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23160"/>
            <a:ext cx="1737360" cy="1188720"/>
          </a:xfrm>
          <a:prstGeom prst="rect">
            <a:avLst/>
          </a:prstGeom>
          <a:solidFill>
            <a:srgbClr val="0D1424"/>
          </a:solidFill>
          <a:ln w="762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96312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B69EFF"/>
                </a:solidFill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8152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A9F"/>
                </a:solidFill>
              </a:rPr>
              <a:t>App Screens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42032" y="2423160"/>
            <a:ext cx="1737360" cy="1188720"/>
          </a:xfrm>
          <a:prstGeom prst="rect">
            <a:avLst/>
          </a:prstGeom>
          <a:solidFill>
            <a:srgbClr val="0D1424"/>
          </a:solidFill>
          <a:ln w="762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2032" y="2496312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FC3F7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308152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A9F"/>
                </a:solidFill>
              </a:rPr>
              <a:t>User Roles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43984" y="2423160"/>
            <a:ext cx="1737360" cy="1188720"/>
          </a:xfrm>
          <a:prstGeom prst="rect">
            <a:avLst/>
          </a:prstGeom>
          <a:solidFill>
            <a:srgbClr val="0D1424"/>
          </a:solidFill>
          <a:ln w="762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3984" y="2496312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4D399"/>
                </a:solidFill>
              </a:rPr>
              <a:t>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3984" y="308152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A9F"/>
                </a:solidFill>
              </a:rPr>
              <a:t>Laravel 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45936" y="2423160"/>
            <a:ext cx="1737360" cy="1188720"/>
          </a:xfrm>
          <a:prstGeom prst="rect">
            <a:avLst/>
          </a:prstGeom>
          <a:solidFill>
            <a:srgbClr val="0D1424"/>
          </a:solidFill>
          <a:ln w="762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2496312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BBF24"/>
                </a:solidFill>
              </a:rPr>
              <a:t>Flutter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08152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A9F"/>
                </a:solidFill>
              </a:rPr>
              <a:t>Framework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47888" y="2423160"/>
            <a:ext cx="1737360" cy="1188720"/>
          </a:xfrm>
          <a:prstGeom prst="rect">
            <a:avLst/>
          </a:prstGeom>
          <a:solidFill>
            <a:srgbClr val="0D1424"/>
          </a:solidFill>
          <a:ln w="762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2496312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7C5CFC"/>
                </a:solidFill>
              </a:rPr>
              <a:t>MySQL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308152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A9F"/>
                </a:solidFill>
              </a:rPr>
              <a:t>Database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49840" y="2423160"/>
            <a:ext cx="1737360" cy="1188720"/>
          </a:xfrm>
          <a:prstGeom prst="rect">
            <a:avLst/>
          </a:prstGeom>
          <a:solidFill>
            <a:srgbClr val="0D1424"/>
          </a:solidFill>
          <a:ln w="762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49840" y="2496312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B0BDDA"/>
                </a:solidFill>
              </a:rPr>
              <a:t>GoRouter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308152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A9F"/>
                </a:solidFill>
              </a:rPr>
              <a:t>Navigation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7947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7A9F"/>
                </a:solidFill>
              </a:rPr>
              <a:t>TECH STACK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096512"/>
            <a:ext cx="2121408" cy="274320"/>
          </a:xfrm>
          <a:prstGeom prst="rect">
            <a:avLst/>
          </a:prstGeom>
          <a:solidFill>
            <a:srgbClr val="131C30"/>
          </a:solidFill>
          <a:ln w="635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096512"/>
            <a:ext cx="2121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69EFF"/>
                </a:solidFill>
              </a:rPr>
              <a:t>Flutter 3.x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80" y="4096512"/>
            <a:ext cx="2121408" cy="274320"/>
          </a:xfrm>
          <a:prstGeom prst="rect">
            <a:avLst/>
          </a:prstGeom>
          <a:solidFill>
            <a:srgbClr val="131C30"/>
          </a:solidFill>
          <a:ln w="635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80" y="4096512"/>
            <a:ext cx="2121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69EFF"/>
                </a:solidFill>
              </a:rPr>
              <a:t>Dart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80" y="4096512"/>
            <a:ext cx="2121408" cy="274320"/>
          </a:xfrm>
          <a:prstGeom prst="rect">
            <a:avLst/>
          </a:prstGeom>
          <a:solidFill>
            <a:srgbClr val="131C30"/>
          </a:solidFill>
          <a:ln w="635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2080" y="4096512"/>
            <a:ext cx="2121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69EFF"/>
                </a:solidFill>
              </a:rPr>
              <a:t>Laravel 11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79" y="4096512"/>
            <a:ext cx="2121408" cy="274320"/>
          </a:xfrm>
          <a:prstGeom prst="rect">
            <a:avLst/>
          </a:prstGeom>
          <a:solidFill>
            <a:srgbClr val="131C30"/>
          </a:solidFill>
          <a:ln w="635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79" y="4096512"/>
            <a:ext cx="2121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69EFF"/>
                </a:solidFill>
              </a:rPr>
              <a:t>PHP 8.2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84080" y="4096512"/>
            <a:ext cx="2121408" cy="274320"/>
          </a:xfrm>
          <a:prstGeom prst="rect">
            <a:avLst/>
          </a:prstGeom>
          <a:solidFill>
            <a:srgbClr val="131C30"/>
          </a:solidFill>
          <a:ln w="635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0" y="4096512"/>
            <a:ext cx="2121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69EFF"/>
                </a:solidFill>
              </a:rPr>
              <a:t>MySQL 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4480560"/>
            <a:ext cx="2121408" cy="274320"/>
          </a:xfrm>
          <a:prstGeom prst="rect">
            <a:avLst/>
          </a:prstGeom>
          <a:solidFill>
            <a:srgbClr val="131C30"/>
          </a:solidFill>
          <a:ln w="635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480560"/>
            <a:ext cx="2121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69EFF"/>
                </a:solidFill>
              </a:rPr>
              <a:t>REST API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6080" y="4480560"/>
            <a:ext cx="2121408" cy="274320"/>
          </a:xfrm>
          <a:prstGeom prst="rect">
            <a:avLst/>
          </a:prstGeom>
          <a:solidFill>
            <a:srgbClr val="131C30"/>
          </a:solidFill>
          <a:ln w="635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26080" y="4480560"/>
            <a:ext cx="2121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69EFF"/>
                </a:solidFill>
              </a:rPr>
              <a:t>Sanctum Auth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12080" y="4480560"/>
            <a:ext cx="2121408" cy="274320"/>
          </a:xfrm>
          <a:prstGeom prst="rect">
            <a:avLst/>
          </a:prstGeom>
          <a:solidFill>
            <a:srgbClr val="131C30"/>
          </a:solidFill>
          <a:ln w="635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12080" y="4480560"/>
            <a:ext cx="2121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69EFF"/>
                </a:solidFill>
              </a:rPr>
              <a:t>Provider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9" y="4480560"/>
            <a:ext cx="2121408" cy="274320"/>
          </a:xfrm>
          <a:prstGeom prst="rect">
            <a:avLst/>
          </a:prstGeom>
          <a:solidFill>
            <a:srgbClr val="131C30"/>
          </a:solidFill>
          <a:ln w="635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98079" y="4480560"/>
            <a:ext cx="2121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69EFF"/>
                </a:solidFill>
              </a:rPr>
              <a:t>GoRouter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84080" y="4480560"/>
            <a:ext cx="2121408" cy="274320"/>
          </a:xfrm>
          <a:prstGeom prst="rect">
            <a:avLst/>
          </a:prstGeom>
          <a:solidFill>
            <a:srgbClr val="131C30"/>
          </a:solidFill>
          <a:ln w="635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84080" y="4480560"/>
            <a:ext cx="2121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69EFF"/>
                </a:solidFill>
              </a:rPr>
              <a:t>http package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0292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7A9F"/>
                </a:solidFill>
              </a:rPr>
              <a:t>USER ROLES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5358384"/>
            <a:ext cx="3611880" cy="1188720"/>
          </a:xfrm>
          <a:prstGeom prst="rect">
            <a:avLst/>
          </a:prstGeom>
          <a:solidFill>
            <a:srgbClr val="0D1424"/>
          </a:solidFill>
          <a:ln w="10160">
            <a:solidFill>
              <a:srgbClr val="B6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0080" y="5358384"/>
            <a:ext cx="3611880" cy="22860"/>
          </a:xfrm>
          <a:prstGeom prst="rect">
            <a:avLst/>
          </a:prstGeom>
          <a:solidFill>
            <a:srgbClr val="B69E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" y="54589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69EFF"/>
                </a:solidFill>
              </a:rPr>
              <a:t>User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58064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DDA"/>
                </a:solidFill>
              </a:rPr>
              <a:t>Browse listings, request home services,
manage profile and track requests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498848" y="5358384"/>
            <a:ext cx="3611880" cy="1188720"/>
          </a:xfrm>
          <a:prstGeom prst="rect">
            <a:avLst/>
          </a:prstGeom>
          <a:solidFill>
            <a:srgbClr val="0D1424"/>
          </a:solidFill>
          <a:ln w="1016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498848" y="5358384"/>
            <a:ext cx="3611880" cy="22860"/>
          </a:xfrm>
          <a:prstGeom prst="rect">
            <a:avLst/>
          </a:prstGeom>
          <a:solidFill>
            <a:srgbClr val="4FC3F7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81728" y="54589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FC3F7"/>
                </a:solidFill>
              </a:rPr>
              <a:t>Worker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81728" y="58064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DDA"/>
                </a:solidFill>
              </a:rPr>
              <a:t>List services with pricing, accept bookings,
manage active service requests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57615" y="5358384"/>
            <a:ext cx="3611880" cy="1188720"/>
          </a:xfrm>
          <a:prstGeom prst="rect">
            <a:avLst/>
          </a:prstGeom>
          <a:solidFill>
            <a:srgbClr val="0D1424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357615" y="5358384"/>
            <a:ext cx="3611880" cy="22860"/>
          </a:xfrm>
          <a:prstGeom prst="rect">
            <a:avLst/>
          </a:prstGeom>
          <a:solidFill>
            <a:srgbClr val="FBBF24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40495" y="54589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BBF24"/>
                </a:solidFill>
              </a:rPr>
              <a:t>Admin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40495" y="58064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DDA"/>
                </a:solidFill>
              </a:rPr>
              <a:t>Full control: manage users, properties,
services, reviews and system stats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25912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A9F"/>
                </a:solidFill>
              </a:rPr>
              <a:t>02 / 12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A9F"/>
                </a:solidFill>
              </a:rPr>
              <a:t>B&amp;B  Real Estate &amp; Home Services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502920"/>
            <a:ext cx="50292" cy="5852160"/>
          </a:xfrm>
          <a:prstGeom prst="rect">
            <a:avLst/>
          </a:prstGeom>
          <a:solidFill>
            <a:srgbClr val="7C5CFC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7A9F"/>
                </a:solidFill>
              </a:rPr>
              <a:t>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0F4FF"/>
                </a:solidFill>
              </a:rPr>
              <a:t>First Impressions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3840480" cy="25603"/>
          </a:xfrm>
          <a:prstGeom prst="rect">
            <a:avLst/>
          </a:prstGeom>
          <a:solidFill>
            <a:srgbClr val="7C5CFC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pad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164592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600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DDA"/>
                </a:solidFill>
              </a:rPr>
              <a:t>A seamless dark-luxury onboarding experience from the very first native pixel.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84248"/>
            <a:ext cx="2139696" cy="3438144"/>
          </a:xfrm>
          <a:prstGeom prst="rect">
            <a:avLst/>
          </a:prstGeom>
          <a:solidFill>
            <a:srgbClr val="0D1424"/>
          </a:solidFill>
          <a:ln w="1016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0_native_splashs_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57400"/>
            <a:ext cx="1993392" cy="32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468112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A9F"/>
                </a:solidFill>
              </a:rPr>
              <a:t>Native Splash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07792" y="1984248"/>
            <a:ext cx="2139696" cy="3438144"/>
          </a:xfrm>
          <a:prstGeom prst="rect">
            <a:avLst/>
          </a:prstGeom>
          <a:solidFill>
            <a:srgbClr val="0D1424"/>
          </a:solidFill>
          <a:ln w="1016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1_splash_sc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0944" y="2057400"/>
            <a:ext cx="1993392" cy="3291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80944" y="5468112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A9F"/>
                </a:solidFill>
              </a:rPr>
              <a:t>Animated Splash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48656" y="1984248"/>
            <a:ext cx="2139696" cy="3438144"/>
          </a:xfrm>
          <a:prstGeom prst="rect">
            <a:avLst/>
          </a:prstGeom>
          <a:solidFill>
            <a:srgbClr val="0D1424"/>
          </a:solidFill>
          <a:ln w="1016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2_login_sc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808" y="2057400"/>
            <a:ext cx="1993392" cy="32918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21808" y="5468112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A9F"/>
                </a:solidFill>
              </a:rPr>
              <a:t>Sign 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19" y="1984248"/>
            <a:ext cx="2139696" cy="3438144"/>
          </a:xfrm>
          <a:prstGeom prst="rect">
            <a:avLst/>
          </a:prstGeom>
          <a:solidFill>
            <a:srgbClr val="0D1424"/>
          </a:solidFill>
          <a:ln w="1016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03_register_sc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2671" y="2057400"/>
            <a:ext cx="1993392" cy="32918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662671" y="5468112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A9F"/>
                </a:solidFill>
              </a:rPr>
              <a:t>Sign 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5778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69EFF"/>
                </a:solidFill>
              </a:rPr>
              <a:t>Dark Native Splash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70448"/>
            <a:ext cx="2176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A9F"/>
                </a:solidFill>
              </a:rPr>
              <a:t>Pixel-perfect dark background
matching in-app Flutter splash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80944" y="55778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69EFF"/>
                </a:solidFill>
              </a:rPr>
              <a:t>Glassmorphism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80944" y="5870448"/>
            <a:ext cx="2176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A9F"/>
                </a:solidFill>
              </a:rPr>
              <a:t>Ambient orbs, blur layers and
premium gradient typography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21808" y="55778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69EFF"/>
                </a:solidFill>
              </a:rPr>
              <a:t>Animated Entry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21808" y="5870448"/>
            <a:ext cx="2176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A9F"/>
                </a:solidFill>
              </a:rPr>
              <a:t>Elastic scale + fade + progress
bar animation over 2.8 seconds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2671" y="55778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69EFF"/>
                </a:solidFill>
              </a:rPr>
              <a:t>Dual Auth 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62671" y="5870448"/>
            <a:ext cx="2176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A9F"/>
                </a:solidFill>
              </a:rPr>
              <a:t>Email/password auth with role
selection: User or Worker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25912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A9F"/>
                </a:solidFill>
              </a:rPr>
              <a:t>03 / 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A9F"/>
                </a:solidFill>
              </a:rPr>
              <a:t>B&amp;B  Real Estate &amp; Home 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502920"/>
            <a:ext cx="50292" cy="5852160"/>
          </a:xfrm>
          <a:prstGeom prst="rect">
            <a:avLst/>
          </a:prstGeom>
          <a:solidFill>
            <a:srgbClr val="7C5CFC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7A9F"/>
                </a:solidFill>
              </a:rPr>
              <a:t>HOME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0F4FF"/>
                </a:solidFill>
              </a:rPr>
              <a:t>Browse &amp; Discover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3840480" cy="25603"/>
          </a:xfrm>
          <a:prstGeom prst="rect">
            <a:avLst/>
          </a:prstGeom>
          <a:solidFill>
            <a:srgbClr val="7C5CFC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pad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164592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600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DDA"/>
                </a:solidFill>
              </a:rPr>
              <a:t>A curated feed of premium properties and on-demand services, personalised by role.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84248"/>
            <a:ext cx="2340864" cy="4352544"/>
          </a:xfrm>
          <a:prstGeom prst="rect">
            <a:avLst/>
          </a:prstGeom>
          <a:solidFill>
            <a:srgbClr val="0D1424"/>
          </a:solidFill>
          <a:ln w="1016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_home_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57400"/>
            <a:ext cx="2194560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38251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A9F"/>
                </a:solidFill>
              </a:rPr>
              <a:t>Home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05740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7A9F"/>
                </a:solidFill>
              </a:rPr>
              <a:t>HOME SCREEN FEATURES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2395728"/>
            <a:ext cx="8138160" cy="658368"/>
          </a:xfrm>
          <a:prstGeom prst="rect">
            <a:avLst/>
          </a:prstGeom>
          <a:solidFill>
            <a:srgbClr val="0D1424"/>
          </a:solidFill>
          <a:ln w="508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6" y="2432304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4FF"/>
                </a:solidFill>
              </a:rPr>
              <a:t>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441448"/>
            <a:ext cx="7360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F4FF"/>
                </a:solidFill>
              </a:rPr>
              <a:t>Featured Properties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2706624"/>
            <a:ext cx="7360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A9F"/>
                </a:solidFill>
              </a:rPr>
              <a:t>Curated hero cards with real imagery, instant pricing &amp; city 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3127248"/>
            <a:ext cx="8138160" cy="658368"/>
          </a:xfrm>
          <a:prstGeom prst="rect">
            <a:avLst/>
          </a:prstGeom>
          <a:solidFill>
            <a:srgbClr val="0D1424"/>
          </a:solidFill>
          <a:ln w="508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85616" y="3163824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4FF"/>
                </a:solidFill>
              </a:rPr>
              <a:t>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3172968"/>
            <a:ext cx="7360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F4FF"/>
                </a:solidFill>
              </a:rPr>
              <a:t>Smart Global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3438144"/>
            <a:ext cx="7360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A9F"/>
                </a:solidFill>
              </a:rPr>
              <a:t>Real-time search across all properties and available services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3858768"/>
            <a:ext cx="8138160" cy="658368"/>
          </a:xfrm>
          <a:prstGeom prst="rect">
            <a:avLst/>
          </a:prstGeom>
          <a:solidFill>
            <a:srgbClr val="0D1424"/>
          </a:solidFill>
          <a:ln w="508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5616" y="3895344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4FF"/>
                </a:solidFill>
              </a:rPr>
              <a:t>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5968" y="3904488"/>
            <a:ext cx="7360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F4FF"/>
                </a:solidFill>
              </a:rPr>
              <a:t>Available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5968" y="4169664"/>
            <a:ext cx="7360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A9F"/>
                </a:solidFill>
              </a:rPr>
              <a:t>Browse and book home services with a single tap from the home screen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590288"/>
            <a:ext cx="8138160" cy="658368"/>
          </a:xfrm>
          <a:prstGeom prst="rect">
            <a:avLst/>
          </a:prstGeom>
          <a:solidFill>
            <a:srgbClr val="0D1424"/>
          </a:solidFill>
          <a:ln w="508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6" y="4626864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4FF"/>
                </a:solidFill>
              </a:rPr>
              <a:t>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5968" y="4636008"/>
            <a:ext cx="7360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F4FF"/>
                </a:solidFill>
              </a:rPr>
              <a:t>City-Based Filters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4901184"/>
            <a:ext cx="7360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A9F"/>
                </a:solidFill>
              </a:rPr>
              <a:t>Filter by Cairo, Giza, Alexandria, Luxor, Sharm El-Sheikh and more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0" y="5321808"/>
            <a:ext cx="8138160" cy="658368"/>
          </a:xfrm>
          <a:prstGeom prst="rect">
            <a:avLst/>
          </a:prstGeom>
          <a:solidFill>
            <a:srgbClr val="0D1424"/>
          </a:solidFill>
          <a:ln w="508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85616" y="5358384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4FF"/>
                </a:solidFill>
              </a:rPr>
              <a:t>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8" y="5367528"/>
            <a:ext cx="7360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F4FF"/>
                </a:solidFill>
              </a:rPr>
              <a:t>Role-Aware UI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15968" y="5632704"/>
            <a:ext cx="7360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A9F"/>
                </a:solidFill>
              </a:rPr>
              <a:t>Dashboard content adapts to User / Worker / Admin role automatically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0" y="6053328"/>
            <a:ext cx="8138160" cy="658368"/>
          </a:xfrm>
          <a:prstGeom prst="rect">
            <a:avLst/>
          </a:prstGeom>
          <a:solidFill>
            <a:srgbClr val="0D1424"/>
          </a:solidFill>
          <a:ln w="508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85616" y="6089904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4FF"/>
                </a:solidFill>
              </a:rPr>
              <a:t>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15968" y="6099048"/>
            <a:ext cx="7360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F4FF"/>
                </a:solidFill>
              </a:rPr>
              <a:t>Glassmorphism Cards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15968" y="6364224"/>
            <a:ext cx="7360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A9F"/>
                </a:solidFill>
              </a:rPr>
              <a:t>Layered dark cards with border glow and ambient background gradients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25912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A9F"/>
                </a:solidFill>
              </a:rPr>
              <a:t>04 / 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A9F"/>
                </a:solidFill>
              </a:rPr>
              <a:t>B&amp;B  Real Estate &amp; Home Services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502920"/>
            <a:ext cx="50292" cy="5852160"/>
          </a:xfrm>
          <a:prstGeom prst="rect">
            <a:avLst/>
          </a:prstGeom>
          <a:solidFill>
            <a:srgbClr val="7C5CFC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7A9F"/>
                </a:solidFill>
              </a:rPr>
              <a:t>PROPERTIES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0F4FF"/>
                </a:solidFill>
              </a:rPr>
              <a:t>Property Listings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3840480" cy="25603"/>
          </a:xfrm>
          <a:prstGeom prst="rect">
            <a:avLst/>
          </a:prstGeom>
          <a:solidFill>
            <a:srgbClr val="7C5CFC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pad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164592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600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DDA"/>
                </a:solidFill>
              </a:rPr>
              <a:t>Searchable, filterable property listings with full detail views and status management.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84248"/>
            <a:ext cx="2340864" cy="4352544"/>
          </a:xfrm>
          <a:prstGeom prst="rect">
            <a:avLst/>
          </a:prstGeom>
          <a:solidFill>
            <a:srgbClr val="0D1424"/>
          </a:solidFill>
          <a:ln w="1016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_property_list_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57400"/>
            <a:ext cx="2194560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38251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A9F"/>
                </a:solidFill>
              </a:rPr>
              <a:t>Property Listings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05740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7A9F"/>
                </a:solidFill>
              </a:rPr>
              <a:t>LISTINGS FEATURES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2395728"/>
            <a:ext cx="8138160" cy="658368"/>
          </a:xfrm>
          <a:prstGeom prst="rect">
            <a:avLst/>
          </a:prstGeom>
          <a:solidFill>
            <a:srgbClr val="0D1424"/>
          </a:solidFill>
          <a:ln w="508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6" y="2432304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4FF"/>
                </a:solidFill>
              </a:rPr>
              <a:t>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441448"/>
            <a:ext cx="7360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F4FF"/>
                </a:solidFill>
              </a:rPr>
              <a:t>Search by Title / 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2706624"/>
            <a:ext cx="7360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A9F"/>
                </a:solidFill>
              </a:rPr>
              <a:t>Instant filter by property title, city or location keyword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3127248"/>
            <a:ext cx="8138160" cy="658368"/>
          </a:xfrm>
          <a:prstGeom prst="rect">
            <a:avLst/>
          </a:prstGeom>
          <a:solidFill>
            <a:srgbClr val="0D1424"/>
          </a:solidFill>
          <a:ln w="508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85616" y="3163824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4FF"/>
                </a:solidFill>
              </a:rPr>
              <a:t>🏙️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3172968"/>
            <a:ext cx="7360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F4FF"/>
                </a:solidFill>
              </a:rPr>
              <a:t>City Filter Chips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3438144"/>
            <a:ext cx="7360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A9F"/>
                </a:solidFill>
              </a:rPr>
              <a:t>One-tap city filters: All, Cairo, Giza, Alexandria, Luxor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3858768"/>
            <a:ext cx="8138160" cy="658368"/>
          </a:xfrm>
          <a:prstGeom prst="rect">
            <a:avLst/>
          </a:prstGeom>
          <a:solidFill>
            <a:srgbClr val="0D1424"/>
          </a:solidFill>
          <a:ln w="508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5616" y="3895344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4FF"/>
                </a:solidFill>
              </a:rPr>
              <a:t>🖼️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5968" y="3904488"/>
            <a:ext cx="7360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F4FF"/>
                </a:solidFill>
              </a:rPr>
              <a:t>Full-Bleed Image Cards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5968" y="4169664"/>
            <a:ext cx="7360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A9F"/>
                </a:solidFill>
              </a:rPr>
              <a:t>Hero images with overlay gradient, price badge and status chip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590288"/>
            <a:ext cx="8138160" cy="658368"/>
          </a:xfrm>
          <a:prstGeom prst="rect">
            <a:avLst/>
          </a:prstGeom>
          <a:solidFill>
            <a:srgbClr val="0D1424"/>
          </a:solidFill>
          <a:ln w="508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6" y="4626864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4FF"/>
                </a:solidFill>
              </a:rPr>
              <a:t>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5968" y="4636008"/>
            <a:ext cx="7360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F4FF"/>
                </a:solidFill>
              </a:rPr>
              <a:t>Formatted Pricing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4901184"/>
            <a:ext cx="7360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A9F"/>
                </a:solidFill>
              </a:rPr>
              <a:t>Currency-formatted price display with room and area metadata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0" y="5321808"/>
            <a:ext cx="8138160" cy="658368"/>
          </a:xfrm>
          <a:prstGeom prst="rect">
            <a:avLst/>
          </a:prstGeom>
          <a:solidFill>
            <a:srgbClr val="0D1424"/>
          </a:solidFill>
          <a:ln w="508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85616" y="5358384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4FF"/>
                </a:solidFill>
              </a:rPr>
              <a:t>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8" y="5367528"/>
            <a:ext cx="7360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F4FF"/>
                </a:solidFill>
              </a:rPr>
              <a:t>Live 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15968" y="5632704"/>
            <a:ext cx="7360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A9F"/>
                </a:solidFill>
              </a:rPr>
              <a:t>Listing count badge always reflects the current filtered results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0" y="6053328"/>
            <a:ext cx="8138160" cy="658368"/>
          </a:xfrm>
          <a:prstGeom prst="rect">
            <a:avLst/>
          </a:prstGeom>
          <a:solidFill>
            <a:srgbClr val="0D1424"/>
          </a:solidFill>
          <a:ln w="508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85616" y="6089904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4FF"/>
                </a:solidFill>
              </a:rPr>
              <a:t>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15968" y="6099048"/>
            <a:ext cx="7360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F4FF"/>
                </a:solidFill>
              </a:rPr>
              <a:t>Quick Add Button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15968" y="6364224"/>
            <a:ext cx="7360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A9F"/>
                </a:solidFill>
              </a:rPr>
              <a:t>Floating action button for owners to add a new property instantly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25912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A9F"/>
                </a:solidFill>
              </a:rPr>
              <a:t>05 / 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A9F"/>
                </a:solidFill>
              </a:rPr>
              <a:t>B&amp;B  Real Estate &amp; Home Services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502920"/>
            <a:ext cx="50292" cy="5852160"/>
          </a:xfrm>
          <a:prstGeom prst="rect">
            <a:avLst/>
          </a:prstGeom>
          <a:solidFill>
            <a:srgbClr val="7C5CFC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7A9F"/>
                </a:solidFill>
              </a:rPr>
              <a:t>PROPERTY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0F4FF"/>
                </a:solidFill>
              </a:rPr>
              <a:t>Details &amp; Creation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4754880" cy="25603"/>
          </a:xfrm>
          <a:prstGeom prst="rect">
            <a:avLst/>
          </a:prstGeom>
          <a:solidFill>
            <a:srgbClr val="7C5CFC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pad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164592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600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DDA"/>
                </a:solidFill>
              </a:rPr>
              <a:t>Full property lifecycle — view, create and manage listings with rich metadata.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84248"/>
            <a:ext cx="2249424" cy="4123943"/>
          </a:xfrm>
          <a:prstGeom prst="rect">
            <a:avLst/>
          </a:prstGeom>
          <a:solidFill>
            <a:srgbClr val="0D1424"/>
          </a:solidFill>
          <a:ln w="1016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6_property_details_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57400"/>
            <a:ext cx="2103120" cy="39776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153911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A9F"/>
                </a:solidFill>
              </a:rPr>
              <a:t>Property Details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44368" y="1984248"/>
            <a:ext cx="2249424" cy="4123943"/>
          </a:xfrm>
          <a:prstGeom prst="rect">
            <a:avLst/>
          </a:prstGeom>
          <a:solidFill>
            <a:srgbClr val="0D1424"/>
          </a:solidFill>
          <a:ln w="1016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7_add_property_sc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2057400"/>
            <a:ext cx="2103120" cy="39776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017520" y="6153911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A9F"/>
                </a:solidFill>
              </a:rPr>
              <a:t>Add Property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05740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7A9F"/>
                </a:solidFill>
              </a:rPr>
              <a:t>PROPERTY DETAIL FEATURES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0" y="2395728"/>
            <a:ext cx="6217920" cy="658368"/>
          </a:xfrm>
          <a:prstGeom prst="rect">
            <a:avLst/>
          </a:prstGeom>
          <a:solidFill>
            <a:srgbClr val="0D1424"/>
          </a:solidFill>
          <a:ln w="508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88736" y="2432304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4FF"/>
                </a:solidFill>
              </a:rPr>
              <a:t>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441448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F4FF"/>
                </a:solidFill>
              </a:rPr>
              <a:t>Photo Gallery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706624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A9F"/>
                </a:solidFill>
              </a:rPr>
              <a:t>Swipeable image gallery with full-bleed hero layout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3108960"/>
            <a:ext cx="6217920" cy="658368"/>
          </a:xfrm>
          <a:prstGeom prst="rect">
            <a:avLst/>
          </a:prstGeom>
          <a:solidFill>
            <a:srgbClr val="0D1424"/>
          </a:solidFill>
          <a:ln w="508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88736" y="3145536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4FF"/>
                </a:solidFill>
              </a:rPr>
              <a:t>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15468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F4FF"/>
                </a:solidFill>
              </a:rPr>
              <a:t>Price &amp; Specs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419856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A9F"/>
                </a:solidFill>
              </a:rPr>
              <a:t>Rooms, area m2, city — clean formatted data display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3822191"/>
            <a:ext cx="6217920" cy="658368"/>
          </a:xfrm>
          <a:prstGeom prst="rect">
            <a:avLst/>
          </a:prstGeom>
          <a:solidFill>
            <a:srgbClr val="0D1424"/>
          </a:solidFill>
          <a:ln w="508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3858767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4FF"/>
                </a:solidFill>
              </a:rPr>
              <a:t>🏷️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3867911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F4FF"/>
                </a:solidFill>
              </a:rPr>
              <a:t>Status Transitions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4133087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A9F"/>
                </a:solidFill>
              </a:rPr>
              <a:t>Available / Pending / Sold — one-tap segmented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4535424"/>
            <a:ext cx="6217920" cy="658368"/>
          </a:xfrm>
          <a:prstGeom prst="rect">
            <a:avLst/>
          </a:prstGeom>
          <a:solidFill>
            <a:srgbClr val="0D1424"/>
          </a:solidFill>
          <a:ln w="508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88736" y="4572000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4FF"/>
                </a:solidFill>
              </a:rPr>
              <a:t>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4581144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F4FF"/>
                </a:solidFill>
              </a:rPr>
              <a:t>Owner Profile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484632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A9F"/>
                </a:solidFill>
              </a:rPr>
              <a:t>Linked owner details with name, avatar and contact access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720" y="5248656"/>
            <a:ext cx="6217920" cy="658368"/>
          </a:xfrm>
          <a:prstGeom prst="rect">
            <a:avLst/>
          </a:prstGeom>
          <a:solidFill>
            <a:srgbClr val="0D1424"/>
          </a:solidFill>
          <a:ln w="508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88736" y="5285232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4FF"/>
                </a:solidFill>
              </a:rPr>
              <a:t>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5294376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F4FF"/>
                </a:solidFill>
              </a:rPr>
              <a:t>Review 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5559552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A9F"/>
                </a:solidFill>
              </a:rPr>
              <a:t>Integrated star ratings and text reviews from verified users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0" y="5961888"/>
            <a:ext cx="6217920" cy="658368"/>
          </a:xfrm>
          <a:prstGeom prst="rect">
            <a:avLst/>
          </a:prstGeom>
          <a:solidFill>
            <a:srgbClr val="0D1424"/>
          </a:solidFill>
          <a:ln w="508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88736" y="5998464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4FF"/>
                </a:solidFill>
              </a:rPr>
              <a:t>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6007608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F4FF"/>
                </a:solidFill>
              </a:rPr>
              <a:t>Add Property Form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9088" y="6272784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A9F"/>
                </a:solidFill>
              </a:rPr>
              <a:t>Full form: title, description, price, rooms, area, city, photos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25912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A9F"/>
                </a:solidFill>
              </a:rPr>
              <a:t>06 / 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A9F"/>
                </a:solidFill>
              </a:rPr>
              <a:t>B&amp;B  Real Estate &amp; Home Services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502920"/>
            <a:ext cx="50292" cy="5852160"/>
          </a:xfrm>
          <a:prstGeom prst="rect">
            <a:avLst/>
          </a:prstGeom>
          <a:solidFill>
            <a:srgbClr val="7C5CFC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7A9F"/>
                </a:solidFill>
              </a:rPr>
              <a:t>WORKER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0F4FF"/>
                </a:solidFill>
              </a:rPr>
              <a:t>Service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4572000" cy="25603"/>
          </a:xfrm>
          <a:prstGeom prst="rect">
            <a:avLst/>
          </a:prstGeom>
          <a:solidFill>
            <a:srgbClr val="7C5CFC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pad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164592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6002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DDA"/>
                </a:solidFill>
              </a:rPr>
              <a:t>Workers manage their service catalogue and incoming requests from a unified dashboard.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847088"/>
            <a:ext cx="2386584" cy="4352544"/>
          </a:xfrm>
          <a:prstGeom prst="rect">
            <a:avLst/>
          </a:prstGeom>
          <a:solidFill>
            <a:srgbClr val="0D1424"/>
          </a:solidFill>
          <a:ln w="1016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0_worker_dashboard_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20240"/>
            <a:ext cx="2240280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245352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A9F"/>
                </a:solidFill>
              </a:rPr>
              <a:t>Worker Dashboard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81528" y="1847088"/>
            <a:ext cx="2386584" cy="4352544"/>
          </a:xfrm>
          <a:prstGeom prst="rect">
            <a:avLst/>
          </a:prstGeom>
          <a:solidFill>
            <a:srgbClr val="0D1424"/>
          </a:solidFill>
          <a:ln w="1016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1_add_service_dial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1920240"/>
            <a:ext cx="2240280" cy="4206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154680" y="6245352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A9F"/>
                </a:solidFill>
              </a:rPr>
              <a:t>Add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920240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7A9F"/>
                </a:solidFill>
              </a:rPr>
              <a:t>WORKER FEATURES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2267712"/>
            <a:ext cx="6035040" cy="658368"/>
          </a:xfrm>
          <a:prstGeom prst="rect">
            <a:avLst/>
          </a:prstGeom>
          <a:solidFill>
            <a:srgbClr val="0D1424"/>
          </a:solidFill>
          <a:ln w="508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71616" y="2304288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4FF"/>
                </a:solidFill>
              </a:rPr>
              <a:t>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2313432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F4FF"/>
                </a:solidFill>
              </a:rPr>
              <a:t>Service Catalogue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2578608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A9F"/>
                </a:solidFill>
              </a:rPr>
              <a:t>List multiple services with category, description and pricing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2953512"/>
            <a:ext cx="6035040" cy="658368"/>
          </a:xfrm>
          <a:prstGeom prst="rect">
            <a:avLst/>
          </a:prstGeom>
          <a:solidFill>
            <a:srgbClr val="0D1424"/>
          </a:solidFill>
          <a:ln w="508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71616" y="2990088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4FF"/>
                </a:solidFill>
              </a:rPr>
              <a:t>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2999232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F4FF"/>
                </a:solidFill>
              </a:rPr>
              <a:t>Flexible Pricing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3264408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A9F"/>
                </a:solidFill>
              </a:rPr>
              <a:t>Set price per hour, per piece or per unit per service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3639312"/>
            <a:ext cx="6035040" cy="658368"/>
          </a:xfrm>
          <a:prstGeom prst="rect">
            <a:avLst/>
          </a:prstGeom>
          <a:solidFill>
            <a:srgbClr val="0D1424"/>
          </a:solidFill>
          <a:ln w="508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71616" y="3675888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4FF"/>
                </a:solidFill>
              </a:rPr>
              <a:t>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3685032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F4FF"/>
                </a:solidFill>
              </a:rPr>
              <a:t>Availability Toggle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3950208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A9F"/>
                </a:solidFill>
              </a:rPr>
              <a:t>Instantly toggle each service on/off for availability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4325112"/>
            <a:ext cx="6035040" cy="658368"/>
          </a:xfrm>
          <a:prstGeom prst="rect">
            <a:avLst/>
          </a:prstGeom>
          <a:solidFill>
            <a:srgbClr val="0D1424"/>
          </a:solidFill>
          <a:ln w="508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71616" y="4361688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4FF"/>
                </a:solidFill>
              </a:rPr>
              <a:t>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1968" y="4370832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F4FF"/>
                </a:solidFill>
              </a:rPr>
              <a:t>Incoming Requests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01968" y="4636008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A9F"/>
                </a:solidFill>
              </a:rPr>
              <a:t>Dedicated tab showing all booking requests with status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5010912"/>
            <a:ext cx="6035040" cy="658368"/>
          </a:xfrm>
          <a:prstGeom prst="rect">
            <a:avLst/>
          </a:prstGeom>
          <a:solidFill>
            <a:srgbClr val="0D1424"/>
          </a:solidFill>
          <a:ln w="508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71616" y="5047488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4FF"/>
                </a:solidFill>
              </a:rPr>
              <a:t>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1968" y="5056632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F4FF"/>
                </a:solidFill>
              </a:rPr>
              <a:t>Accept / Decline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1968" y="5321808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A9F"/>
                </a:solidFill>
              </a:rPr>
              <a:t>One-tap accept or decline with automatic client notification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5696712"/>
            <a:ext cx="6035040" cy="658368"/>
          </a:xfrm>
          <a:prstGeom prst="rect">
            <a:avLst/>
          </a:prstGeom>
          <a:solidFill>
            <a:srgbClr val="0D1424"/>
          </a:solidFill>
          <a:ln w="508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71616" y="5733288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4FF"/>
                </a:solidFill>
              </a:rPr>
              <a:t>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5742432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F4FF"/>
                </a:solidFill>
              </a:rPr>
              <a:t>Add Service Dialog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6007608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A9F"/>
                </a:solidFill>
              </a:rPr>
              <a:t>Quick-add modal: category, description, price, unit type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6035040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7A9F"/>
                </a:solidFill>
              </a:rPr>
              <a:t>SERVICE CATEGORIES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6291072"/>
            <a:ext cx="932688" cy="274320"/>
          </a:xfrm>
          <a:prstGeom prst="rect">
            <a:avLst/>
          </a:prstGeom>
          <a:solidFill>
            <a:srgbClr val="131C30"/>
          </a:solidFill>
          <a:ln w="635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0" y="6291072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4FC3F7"/>
                </a:solidFill>
              </a:rPr>
              <a:t>Plumbing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49440" y="6291072"/>
            <a:ext cx="932688" cy="274320"/>
          </a:xfrm>
          <a:prstGeom prst="rect">
            <a:avLst/>
          </a:prstGeom>
          <a:solidFill>
            <a:srgbClr val="131C30"/>
          </a:solidFill>
          <a:ln w="635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0" y="6291072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4FC3F7"/>
                </a:solidFill>
              </a:rPr>
              <a:t>Carpentry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55280" y="6291072"/>
            <a:ext cx="932688" cy="274320"/>
          </a:xfrm>
          <a:prstGeom prst="rect">
            <a:avLst/>
          </a:prstGeom>
          <a:solidFill>
            <a:srgbClr val="131C30"/>
          </a:solidFill>
          <a:ln w="635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55280" y="6291072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4FC3F7"/>
                </a:solidFill>
              </a:rPr>
              <a:t>Tiling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61120" y="6291072"/>
            <a:ext cx="932688" cy="274320"/>
          </a:xfrm>
          <a:prstGeom prst="rect">
            <a:avLst/>
          </a:prstGeom>
          <a:solidFill>
            <a:srgbClr val="131C30"/>
          </a:solidFill>
          <a:ln w="635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61120" y="6291072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4FC3F7"/>
                </a:solidFill>
              </a:rPr>
              <a:t>Finishing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966960" y="6291072"/>
            <a:ext cx="932688" cy="274320"/>
          </a:xfrm>
          <a:prstGeom prst="rect">
            <a:avLst/>
          </a:prstGeom>
          <a:solidFill>
            <a:srgbClr val="131C30"/>
          </a:solidFill>
          <a:ln w="635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66960" y="6291072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4FC3F7"/>
                </a:solidFill>
              </a:rPr>
              <a:t>Painting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972800" y="6291072"/>
            <a:ext cx="932688" cy="274320"/>
          </a:xfrm>
          <a:prstGeom prst="rect">
            <a:avLst/>
          </a:prstGeom>
          <a:solidFill>
            <a:srgbClr val="131C30"/>
          </a:solidFill>
          <a:ln w="635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972800" y="6291072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4FC3F7"/>
                </a:solidFill>
              </a:rPr>
              <a:t>Electrical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25912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A9F"/>
                </a:solidFill>
              </a:rPr>
              <a:t>07 / 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A9F"/>
                </a:solidFill>
              </a:rPr>
              <a:t>B&amp;B  Real Estate &amp; Home Services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502920"/>
            <a:ext cx="50292" cy="5852160"/>
          </a:xfrm>
          <a:prstGeom prst="rect">
            <a:avLst/>
          </a:prstGeom>
          <a:solidFill>
            <a:srgbClr val="7C5CFC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7A9F"/>
                </a:solidFill>
              </a:rPr>
              <a:t>REQUESTS &amp; REVIEWS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0F4FF"/>
                </a:solidFill>
              </a:rPr>
              <a:t>Booking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4389120" cy="25603"/>
          </a:xfrm>
          <a:prstGeom prst="rect">
            <a:avLst/>
          </a:prstGeom>
          <a:solidFill>
            <a:srgbClr val="7C5CFC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pad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164592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6002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DDA"/>
                </a:solidFill>
              </a:rPr>
              <a:t>End-to-end request tracking with status management and a built-in review system.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84248"/>
            <a:ext cx="2340864" cy="4306824"/>
          </a:xfrm>
          <a:prstGeom prst="rect">
            <a:avLst/>
          </a:prstGeom>
          <a:solidFill>
            <a:srgbClr val="0D1424"/>
          </a:solidFill>
          <a:ln w="1016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8_requests_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57400"/>
            <a:ext cx="2194560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33679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A9F"/>
                </a:solidFill>
              </a:rPr>
              <a:t>My Requests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05740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7A9F"/>
                </a:solidFill>
              </a:rPr>
              <a:t>REQUEST LIFECYCLE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2395728"/>
            <a:ext cx="1463040" cy="777240"/>
          </a:xfrm>
          <a:prstGeom prst="rect">
            <a:avLst/>
          </a:prstGeom>
          <a:solidFill>
            <a:srgbClr val="0D1424"/>
          </a:solidFill>
          <a:ln w="12700">
            <a:solidFill>
              <a:srgbClr val="B6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432304"/>
            <a:ext cx="1463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B69EFF"/>
                </a:solidFill>
              </a:rPr>
              <a:t>User Submits
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688336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A9F"/>
                </a:solidFill>
              </a:rP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85232" y="2395728"/>
            <a:ext cx="1463040" cy="777240"/>
          </a:xfrm>
          <a:prstGeom prst="rect">
            <a:avLst/>
          </a:prstGeom>
          <a:solidFill>
            <a:srgbClr val="0D1424"/>
          </a:solidFill>
          <a:ln w="12700">
            <a:solidFill>
              <a:srgbClr val="B0B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85232" y="2432304"/>
            <a:ext cx="1463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B0BDDA"/>
                </a:solidFill>
              </a:rPr>
              <a:t>Worker
Reviews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688336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A9F"/>
                </a:solidFill>
              </a:rPr>
              <a:t>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12864" y="2395728"/>
            <a:ext cx="1463040" cy="777240"/>
          </a:xfrm>
          <a:prstGeom prst="rect">
            <a:avLst/>
          </a:prstGeom>
          <a:solidFill>
            <a:srgbClr val="0D1424"/>
          </a:solidFill>
          <a:ln w="127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12864" y="2432304"/>
            <a:ext cx="1463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4FC3F7"/>
                </a:solidFill>
              </a:rPr>
              <a:t>Accept /
Decline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688336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A9F"/>
                </a:solidFill>
              </a:rPr>
              <a:t>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40496" y="2395728"/>
            <a:ext cx="1463040" cy="777240"/>
          </a:xfrm>
          <a:prstGeom prst="rect">
            <a:avLst/>
          </a:prstGeom>
          <a:solidFill>
            <a:srgbClr val="0D142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0496" y="2432304"/>
            <a:ext cx="1463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4D399"/>
                </a:solidFill>
              </a:rPr>
              <a:t>Service
Delivered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03536" y="2688336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A9F"/>
                </a:solidFill>
              </a:rPr>
              <a:t>&gt;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68128" y="2395728"/>
            <a:ext cx="1463040" cy="777240"/>
          </a:xfrm>
          <a:prstGeom prst="rect">
            <a:avLst/>
          </a:prstGeom>
          <a:solidFill>
            <a:srgbClr val="0D14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68128" y="2432304"/>
            <a:ext cx="1463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BBF24"/>
                </a:solidFill>
              </a:rPr>
              <a:t>Review
Submitted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2461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7A9F"/>
                </a:solidFill>
              </a:rPr>
              <a:t>STATUS DEFINITIONS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0" y="3520440"/>
            <a:ext cx="8229600" cy="438912"/>
          </a:xfrm>
          <a:prstGeom prst="rect">
            <a:avLst/>
          </a:prstGeom>
          <a:solidFill>
            <a:srgbClr val="0D1424"/>
          </a:solidFill>
          <a:ln w="63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0" y="3520440"/>
            <a:ext cx="502920" cy="438912"/>
          </a:xfrm>
          <a:prstGeom prst="rect">
            <a:avLst/>
          </a:prstGeom>
          <a:solidFill>
            <a:srgbClr val="FBBF24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70248" y="355701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PENDING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0248" y="3739896"/>
            <a:ext cx="7406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DDA"/>
                </a:solidFill>
              </a:rPr>
              <a:t>Request submitted, awaiting worker response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0" y="4032504"/>
            <a:ext cx="8229600" cy="438912"/>
          </a:xfrm>
          <a:prstGeom prst="rect">
            <a:avLst/>
          </a:prstGeom>
          <a:solidFill>
            <a:srgbClr val="0D1424"/>
          </a:solidFill>
          <a:ln w="63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4032504"/>
            <a:ext cx="502920" cy="438912"/>
          </a:xfrm>
          <a:prstGeom prst="rect">
            <a:avLst/>
          </a:prstGeom>
          <a:solidFill>
            <a:srgbClr val="4FC3F7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70248" y="406908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C3F7"/>
                </a:solidFill>
              </a:rPr>
              <a:t>ACCEPTED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0248" y="4251960"/>
            <a:ext cx="7406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DDA"/>
                </a:solidFill>
              </a:rPr>
              <a:t>Worker confirmed — service in progress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0" y="4544568"/>
            <a:ext cx="8229600" cy="438912"/>
          </a:xfrm>
          <a:prstGeom prst="rect">
            <a:avLst/>
          </a:prstGeom>
          <a:solidFill>
            <a:srgbClr val="0D1424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0" y="4544568"/>
            <a:ext cx="502920" cy="438912"/>
          </a:xfrm>
          <a:prstGeom prst="rect">
            <a:avLst/>
          </a:prstGeom>
          <a:solidFill>
            <a:srgbClr val="34D399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70248" y="458114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COMPLETED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70248" y="4764024"/>
            <a:ext cx="7406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DDA"/>
                </a:solidFill>
              </a:rPr>
              <a:t>Service delivered and marked done by worker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0" y="5056632"/>
            <a:ext cx="8229600" cy="438912"/>
          </a:xfrm>
          <a:prstGeom prst="rect">
            <a:avLst/>
          </a:prstGeom>
          <a:solidFill>
            <a:srgbClr val="0D1424"/>
          </a:solidFill>
          <a:ln w="6350">
            <a:solidFill>
              <a:srgbClr val="6B7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0" y="5056632"/>
            <a:ext cx="502920" cy="438912"/>
          </a:xfrm>
          <a:prstGeom prst="rect">
            <a:avLst/>
          </a:prstGeom>
          <a:solidFill>
            <a:srgbClr val="6B7A9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70248" y="50932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A9F"/>
                </a:solidFill>
              </a:rPr>
              <a:t>CANCELLED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5276088"/>
            <a:ext cx="7406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DDA"/>
                </a:solidFill>
              </a:rPr>
              <a:t>Request cancelled by user or worker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559612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7A9F"/>
                </a:solidFill>
              </a:rPr>
              <a:t>REVIEW SYSTEM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0" y="5852160"/>
            <a:ext cx="8229600" cy="438912"/>
          </a:xfrm>
          <a:prstGeom prst="rect">
            <a:avLst/>
          </a:prstGeom>
          <a:solidFill>
            <a:srgbClr val="0D1424"/>
          </a:solidFill>
          <a:ln w="762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40480" y="5916168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DDA"/>
                </a:solidFill>
              </a:rPr>
              <a:t>Star Ratings (1-5)  |  Written Text Reviews  |  Worker Profile Feedback  |  Admin Moderation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25912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A9F"/>
                </a:solidFill>
              </a:rPr>
              <a:t>08 / 12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A9F"/>
                </a:solidFill>
              </a:rPr>
              <a:t>B&amp;B  Real Estate &amp; Home Services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502920"/>
            <a:ext cx="50292" cy="5852160"/>
          </a:xfrm>
          <a:prstGeom prst="rect">
            <a:avLst/>
          </a:prstGeom>
          <a:solidFill>
            <a:srgbClr val="7C5CFC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7A9F"/>
                </a:solidFill>
              </a:rPr>
              <a:t>PROFILE &amp;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0F4FF"/>
                </a:solidFill>
              </a:rPr>
              <a:t>User Account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5669280" cy="25603"/>
          </a:xfrm>
          <a:prstGeom prst="rect">
            <a:avLst/>
          </a:prstGeom>
          <a:solidFill>
            <a:srgbClr val="7C5CFC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pad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164592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600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DDA"/>
                </a:solidFill>
              </a:rPr>
              <a:t>Persistent sessions, role-based UI, editable profile with secure token authentication.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84248"/>
            <a:ext cx="2340864" cy="4306824"/>
          </a:xfrm>
          <a:prstGeom prst="rect">
            <a:avLst/>
          </a:prstGeom>
          <a:solidFill>
            <a:srgbClr val="0D1424"/>
          </a:solidFill>
          <a:ln w="1016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9_profile_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57400"/>
            <a:ext cx="2194560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33679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A9F"/>
                </a:solidFill>
              </a:rPr>
              <a:t>User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05740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7A9F"/>
                </a:solidFill>
              </a:rPr>
              <a:t>PROFILE FEATURES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2395728"/>
            <a:ext cx="8138160" cy="530352"/>
          </a:xfrm>
          <a:prstGeom prst="rect">
            <a:avLst/>
          </a:prstGeom>
          <a:solidFill>
            <a:srgbClr val="0D1424"/>
          </a:solidFill>
          <a:ln w="508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6" y="2432304"/>
            <a:ext cx="502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4FF"/>
                </a:solidFill>
              </a:rPr>
              <a:t>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441448"/>
            <a:ext cx="7360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F4FF"/>
                </a:solidFill>
              </a:rPr>
              <a:t>Avatar &amp; Display 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2706624"/>
            <a:ext cx="7360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A9F"/>
                </a:solidFill>
              </a:rPr>
              <a:t>Gradient avatar with user initials, name and email displayed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2962656"/>
            <a:ext cx="8138160" cy="530352"/>
          </a:xfrm>
          <a:prstGeom prst="rect">
            <a:avLst/>
          </a:prstGeom>
          <a:solidFill>
            <a:srgbClr val="0D1424"/>
          </a:solidFill>
          <a:ln w="508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85616" y="2999232"/>
            <a:ext cx="502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4FF"/>
                </a:solidFill>
              </a:rPr>
              <a:t>🏷️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3008376"/>
            <a:ext cx="7360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F4FF"/>
                </a:solidFill>
              </a:rPr>
              <a:t>Role Badge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3273552"/>
            <a:ext cx="7360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A9F"/>
                </a:solidFill>
              </a:rPr>
              <a:t>Prominent role chip: Admin (purple) / User (cyan) / Worker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3529584"/>
            <a:ext cx="8138160" cy="530352"/>
          </a:xfrm>
          <a:prstGeom prst="rect">
            <a:avLst/>
          </a:prstGeom>
          <a:solidFill>
            <a:srgbClr val="0D1424"/>
          </a:solidFill>
          <a:ln w="508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5616" y="3566160"/>
            <a:ext cx="502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4FF"/>
                </a:solidFill>
              </a:rPr>
              <a:t>✏️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5968" y="3575304"/>
            <a:ext cx="7360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F4FF"/>
                </a:solidFill>
              </a:rPr>
              <a:t>Editable Phone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5968" y="3840480"/>
            <a:ext cx="7360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A9F"/>
                </a:solidFill>
              </a:rPr>
              <a:t>Inline phone number editing with instant API save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096512"/>
            <a:ext cx="8138160" cy="530352"/>
          </a:xfrm>
          <a:prstGeom prst="rect">
            <a:avLst/>
          </a:prstGeom>
          <a:solidFill>
            <a:srgbClr val="0D1424"/>
          </a:solidFill>
          <a:ln w="508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6" y="4133088"/>
            <a:ext cx="502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4FF"/>
                </a:solidFill>
              </a:rPr>
              <a:t>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5968" y="4142232"/>
            <a:ext cx="7360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F4FF"/>
                </a:solidFill>
              </a:rPr>
              <a:t>My Requests Shortcut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4407408"/>
            <a:ext cx="7360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A9F"/>
                </a:solidFill>
              </a:rPr>
              <a:t>Quick navigation to full request history from profile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0" y="4663440"/>
            <a:ext cx="8138160" cy="530352"/>
          </a:xfrm>
          <a:prstGeom prst="rect">
            <a:avLst/>
          </a:prstGeom>
          <a:solidFill>
            <a:srgbClr val="0D1424"/>
          </a:solidFill>
          <a:ln w="508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85616" y="4700016"/>
            <a:ext cx="502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4FF"/>
                </a:solidFill>
              </a:rPr>
              <a:t>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8" y="4709160"/>
            <a:ext cx="7360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F4FF"/>
                </a:solidFill>
              </a:rPr>
              <a:t>Secure Token Auth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15968" y="4974336"/>
            <a:ext cx="7360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A9F"/>
                </a:solidFill>
              </a:rPr>
              <a:t>Laravel Sanctum bearer tokens with persistent session storage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0" y="5230368"/>
            <a:ext cx="8138160" cy="530352"/>
          </a:xfrm>
          <a:prstGeom prst="rect">
            <a:avLst/>
          </a:prstGeom>
          <a:solidFill>
            <a:srgbClr val="0D1424"/>
          </a:solidFill>
          <a:ln w="508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85616" y="5266944"/>
            <a:ext cx="502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4FF"/>
                </a:solidFill>
              </a:rPr>
              <a:t>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15968" y="5276088"/>
            <a:ext cx="7360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F4FF"/>
                </a:solidFill>
              </a:rPr>
              <a:t>Logout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15968" y="5541264"/>
            <a:ext cx="7360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A9F"/>
                </a:solidFill>
              </a:rPr>
              <a:t>Single-tap secure logout with token invalidation on server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587044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7A9F"/>
                </a:solidFill>
              </a:rPr>
              <a:t>AUTHENTICATION FLOW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0" y="6089904"/>
            <a:ext cx="8229600" cy="384048"/>
          </a:xfrm>
          <a:prstGeom prst="rect">
            <a:avLst/>
          </a:prstGeom>
          <a:solidFill>
            <a:srgbClr val="0D1424"/>
          </a:solidFill>
          <a:ln w="762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0480" y="6144768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DDA"/>
                </a:solidFill>
              </a:rPr>
              <a:t>Login  &gt;  Sanctum Token  &gt;  SharedPreferences  &gt;  Auto-Restored on Relaunch  &gt;  Role-Based Routing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25912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A9F"/>
                </a:solidFill>
              </a:rPr>
              <a:t>09 / 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A9F"/>
                </a:solidFill>
              </a:rPr>
              <a:t>B&amp;B  Real Estate &amp; Home Services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502920"/>
            <a:ext cx="50292" cy="5852160"/>
          </a:xfrm>
          <a:prstGeom prst="rect">
            <a:avLst/>
          </a:prstGeom>
          <a:solidFill>
            <a:srgbClr val="7C5CFC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7A9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0F4FF"/>
                </a:solidFill>
              </a:rPr>
              <a:t>Technical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4389120" cy="25603"/>
          </a:xfrm>
          <a:prstGeom prst="rect">
            <a:avLst/>
          </a:prstGeom>
          <a:solidFill>
            <a:srgbClr val="7C5CFC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pad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164592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600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DDA"/>
                </a:solidFill>
              </a:rPr>
              <a:t>Clean separation of concerns across four architectural layers with JWT-secured REST communication.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10332720" cy="749808"/>
          </a:xfrm>
          <a:prstGeom prst="rect">
            <a:avLst/>
          </a:prstGeom>
          <a:solidFill>
            <a:srgbClr val="0D1424"/>
          </a:solidFill>
          <a:ln w="15240">
            <a:solidFill>
              <a:srgbClr val="B6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164592" cy="749808"/>
          </a:xfrm>
          <a:prstGeom prst="rect">
            <a:avLst/>
          </a:prstGeom>
          <a:solidFill>
            <a:srgbClr val="B69E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031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69EFF"/>
                </a:solidFill>
              </a:rPr>
              <a:t>Flutter Mobile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103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B69EFF"/>
                </a:solidFill>
              </a:rPr>
              <a:t>Presentation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404872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9F"/>
                </a:solidFill>
              </a:rPr>
              <a:t>Dart  |  Provider State Management  |  GoRouter Navigation  |  http Package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80720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A9F"/>
                </a:solidFill>
              </a:rPr>
              <a:t>|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971800"/>
            <a:ext cx="10332720" cy="749808"/>
          </a:xfrm>
          <a:prstGeom prst="rect">
            <a:avLst/>
          </a:prstGeom>
          <a:solidFill>
            <a:srgbClr val="0D1424"/>
          </a:solidFill>
          <a:ln w="1524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71800"/>
            <a:ext cx="164592" cy="749808"/>
          </a:xfrm>
          <a:prstGeom prst="rect">
            <a:avLst/>
          </a:prstGeom>
          <a:solidFill>
            <a:srgbClr val="7C5CFC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175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5CFC"/>
                </a:solidFill>
              </a:rPr>
              <a:t>REST API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0175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7C5CFC"/>
                </a:solidFill>
              </a:rPr>
              <a:t>Interface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319272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9F"/>
                </a:solidFill>
              </a:rPr>
              <a:t>HTTPS  |  JSON Envelope  |  Bearer Token  |  Standardised Response Shape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372160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A9F"/>
                </a:solidFill>
              </a:rPr>
              <a:t>|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886200"/>
            <a:ext cx="10332720" cy="749808"/>
          </a:xfrm>
          <a:prstGeom prst="rect">
            <a:avLst/>
          </a:prstGeom>
          <a:solidFill>
            <a:srgbClr val="0D1424"/>
          </a:solidFill>
          <a:ln w="1524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886200"/>
            <a:ext cx="164592" cy="749808"/>
          </a:xfrm>
          <a:prstGeom prst="rect">
            <a:avLst/>
          </a:prstGeom>
          <a:solidFill>
            <a:srgbClr val="4FC3F7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931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C3F7"/>
                </a:solidFill>
              </a:rPr>
              <a:t>Laravel 11 Backend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9319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4FC3F7"/>
                </a:solidFill>
              </a:rPr>
              <a:t>Business Logic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233672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9F"/>
                </a:solidFill>
              </a:rPr>
              <a:t>PHP 8.2  |  Eloquent ORM  |  Resource Controllers  |  Form Requests  |  Gates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463600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A9F"/>
                </a:solidFill>
              </a:rPr>
              <a:t>|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800600"/>
            <a:ext cx="10332720" cy="749808"/>
          </a:xfrm>
          <a:prstGeom prst="rect">
            <a:avLst/>
          </a:prstGeom>
          <a:solidFill>
            <a:srgbClr val="0D1424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800600"/>
            <a:ext cx="164592" cy="749808"/>
          </a:xfrm>
          <a:prstGeom prst="rect">
            <a:avLst/>
          </a:prstGeom>
          <a:solidFill>
            <a:srgbClr val="34D399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846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MySQL 8 Database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846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34D399"/>
                </a:solidFill>
              </a:rPr>
              <a:t>Data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148072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9F"/>
                </a:solidFill>
              </a:rPr>
              <a:t>Migrations  |  Seeders  |  Foreign Keys  |  Indexes  |  Relationships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6509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7A9F"/>
                </a:solidFill>
              </a:rPr>
              <a:t>KEY API ENDPOINTS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870448"/>
            <a:ext cx="5532120" cy="182880"/>
          </a:xfrm>
          <a:prstGeom prst="rect">
            <a:avLst/>
          </a:prstGeom>
          <a:solidFill>
            <a:srgbClr val="0D1424"/>
          </a:solidFill>
          <a:ln w="5080">
            <a:solidFill>
              <a:srgbClr val="B6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87044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B69EFF"/>
                </a:solidFill>
              </a:rPr>
              <a:t>POST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5870448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69EFF"/>
                </a:solidFill>
              </a:rPr>
              <a:t>/api/auth/login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82112" y="587044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A9F"/>
                </a:solidFill>
              </a:rPr>
              <a:t>Authenticate user, receive Sanctum token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46520" y="5870448"/>
            <a:ext cx="5532120" cy="182880"/>
          </a:xfrm>
          <a:prstGeom prst="rect">
            <a:avLst/>
          </a:prstGeom>
          <a:solidFill>
            <a:srgbClr val="0D1424"/>
          </a:solidFill>
          <a:ln w="5080">
            <a:solidFill>
              <a:srgbClr val="B6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587044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B69EFF"/>
                </a:solidFill>
              </a:rPr>
              <a:t>POST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5870448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69EFF"/>
                </a:solidFill>
              </a:rPr>
              <a:t>/api/auth/register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88552" y="587044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A9F"/>
                </a:solidFill>
              </a:rPr>
              <a:t>Create new user or worker account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6071616"/>
            <a:ext cx="5532120" cy="182880"/>
          </a:xfrm>
          <a:prstGeom prst="rect">
            <a:avLst/>
          </a:prstGeom>
          <a:solidFill>
            <a:srgbClr val="0D1424"/>
          </a:solidFill>
          <a:ln w="508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607161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4FC3F7"/>
                </a:solidFill>
              </a:rPr>
              <a:t>GET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4440" y="6071616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69EFF"/>
                </a:solidFill>
              </a:rPr>
              <a:t>/api/properties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82112" y="6071616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A9F"/>
                </a:solidFill>
              </a:rPr>
              <a:t>Paginated property listings with filters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46520" y="6071616"/>
            <a:ext cx="5532120" cy="182880"/>
          </a:xfrm>
          <a:prstGeom prst="rect">
            <a:avLst/>
          </a:prstGeom>
          <a:solidFill>
            <a:srgbClr val="0D1424"/>
          </a:solidFill>
          <a:ln w="508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607161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4FC3F7"/>
                </a:solidFill>
              </a:rPr>
              <a:t>POST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6071616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69EFF"/>
                </a:solidFill>
              </a:rPr>
              <a:t>/api/properties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88552" y="6071616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A9F"/>
                </a:solidFill>
              </a:rPr>
              <a:t>Create new property (authenticated owner)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6272784"/>
            <a:ext cx="5532120" cy="182880"/>
          </a:xfrm>
          <a:prstGeom prst="rect">
            <a:avLst/>
          </a:prstGeom>
          <a:solidFill>
            <a:srgbClr val="0D1424"/>
          </a:solidFill>
          <a:ln w="50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627278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34D399"/>
                </a:solidFill>
              </a:rPr>
              <a:t>GET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34440" y="6272784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69EFF"/>
                </a:solidFill>
              </a:rPr>
              <a:t>/api/worker-services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82112" y="6272784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A9F"/>
                </a:solidFill>
              </a:rPr>
              <a:t>Available home services catalogue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46520" y="6272784"/>
            <a:ext cx="5532120" cy="182880"/>
          </a:xfrm>
          <a:prstGeom prst="rect">
            <a:avLst/>
          </a:prstGeom>
          <a:solidFill>
            <a:srgbClr val="0D1424"/>
          </a:solidFill>
          <a:ln w="508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37960" y="627278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BBF24"/>
                </a:solidFill>
              </a:rPr>
              <a:t>POST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40880" y="6272784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69EFF"/>
                </a:solidFill>
              </a:rPr>
              <a:t>/api/service-requests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88552" y="6272784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A9F"/>
                </a:solidFill>
              </a:rPr>
              <a:t>Submit a booking request for a service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725912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A9F"/>
                </a:solidFill>
              </a:rPr>
              <a:t>010 / 12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A9F"/>
                </a:solidFill>
              </a:rPr>
              <a:t>B&amp;B  Real Estate &amp; Home Services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502920"/>
            <a:ext cx="50292" cy="5852160"/>
          </a:xfrm>
          <a:prstGeom prst="rect">
            <a:avLst/>
          </a:prstGeom>
          <a:solidFill>
            <a:srgbClr val="7C5CFC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7A9F"/>
                </a:solidFill>
              </a:rPr>
              <a:t>BRANDING &amp; DESIGN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0F4FF"/>
                </a:solidFill>
              </a:rPr>
              <a:t>Visual Identity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4754880" cy="25603"/>
          </a:xfrm>
          <a:prstGeom prst="rect">
            <a:avLst/>
          </a:prstGeom>
          <a:solidFill>
            <a:srgbClr val="7C5CFC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pad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164592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874519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7A9F"/>
                </a:solidFill>
              </a:rPr>
              <a:t>BRAND COLORS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1572768" cy="804672"/>
          </a:xfrm>
          <a:prstGeom prst="rect">
            <a:avLst/>
          </a:prstGeom>
          <a:solidFill>
            <a:srgbClr val="060B18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1572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0BDDA"/>
                </a:solidFill>
              </a:rPr>
              <a:t>#060B18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1572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A9F"/>
                </a:solidFill>
              </a:rPr>
              <a:t>Background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2194560"/>
            <a:ext cx="1572768" cy="804672"/>
          </a:xfrm>
          <a:prstGeom prst="rect">
            <a:avLst/>
          </a:prstGeom>
          <a:solidFill>
            <a:srgbClr val="0D1424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3063240"/>
            <a:ext cx="1572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0BDDA"/>
                </a:solidFill>
              </a:rPr>
              <a:t>#0D1424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291840"/>
            <a:ext cx="1572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A9F"/>
                </a:solidFill>
              </a:rPr>
              <a:t>Surface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2194560"/>
            <a:ext cx="1572768" cy="804672"/>
          </a:xfrm>
          <a:prstGeom prst="rect">
            <a:avLst/>
          </a:prstGeom>
          <a:solidFill>
            <a:srgbClr val="7C5CFC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0" y="3063240"/>
            <a:ext cx="1572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0BDDA"/>
                </a:solidFill>
              </a:rPr>
              <a:t>#7C5CFC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291840"/>
            <a:ext cx="1572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A9F"/>
                </a:solidFill>
              </a:rPr>
              <a:t>Accent Violet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2194560"/>
            <a:ext cx="1572768" cy="804672"/>
          </a:xfrm>
          <a:prstGeom prst="rect">
            <a:avLst/>
          </a:prstGeom>
          <a:solidFill>
            <a:srgbClr val="B69E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0" y="3063240"/>
            <a:ext cx="1572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0BDDA"/>
                </a:solidFill>
              </a:rPr>
              <a:t>#B69EFF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3291840"/>
            <a:ext cx="1572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A9F"/>
                </a:solidFill>
              </a:rPr>
              <a:t>Accent Light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2194560"/>
            <a:ext cx="1572768" cy="804672"/>
          </a:xfrm>
          <a:prstGeom prst="rect">
            <a:avLst/>
          </a:prstGeom>
          <a:solidFill>
            <a:srgbClr val="4FC3F7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3063240"/>
            <a:ext cx="1572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0BDDA"/>
                </a:solidFill>
              </a:rPr>
              <a:t>#4FC3F7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291840"/>
            <a:ext cx="1572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A9F"/>
                </a:solidFill>
              </a:rPr>
              <a:t>Cyan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69680" y="2194560"/>
            <a:ext cx="1572768" cy="804672"/>
          </a:xfrm>
          <a:prstGeom prst="rect">
            <a:avLst/>
          </a:prstGeom>
          <a:solidFill>
            <a:srgbClr val="34D399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0" y="3063240"/>
            <a:ext cx="1572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0BDDA"/>
                </a:solidFill>
              </a:rPr>
              <a:t>#34D399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3291840"/>
            <a:ext cx="1572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A9F"/>
                </a:solidFill>
              </a:rPr>
              <a:t>Success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15600" y="2194560"/>
            <a:ext cx="1572768" cy="804672"/>
          </a:xfrm>
          <a:prstGeom prst="rect">
            <a:avLst/>
          </a:prstGeom>
          <a:solidFill>
            <a:srgbClr val="F0F4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0" y="3063240"/>
            <a:ext cx="1572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0BDDA"/>
                </a:solidFill>
              </a:rPr>
              <a:t>#F0F4FF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3291840"/>
            <a:ext cx="1572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A9F"/>
                </a:solidFill>
              </a:rPr>
              <a:t>Text Primary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749039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7A9F"/>
                </a:solidFill>
              </a:rPr>
              <a:t>LOGO VARIANTS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069080"/>
            <a:ext cx="1874520" cy="1984248"/>
          </a:xfrm>
          <a:prstGeom prst="rect">
            <a:avLst/>
          </a:prstGeom>
          <a:solidFill>
            <a:srgbClr val="0D1424"/>
          </a:solidFill>
          <a:ln w="762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_pad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206240"/>
            <a:ext cx="1417320" cy="14173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0080" y="5998464"/>
            <a:ext cx="1874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A9F"/>
                </a:solidFill>
              </a:rPr>
              <a:t>Primary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4069080"/>
            <a:ext cx="1874520" cy="1984248"/>
          </a:xfrm>
          <a:prstGeom prst="rect">
            <a:avLst/>
          </a:prstGeom>
          <a:solidFill>
            <a:srgbClr val="0D1424"/>
          </a:solidFill>
          <a:ln w="762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ogo_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4206240"/>
            <a:ext cx="1417320" cy="14173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926080" y="5998464"/>
            <a:ext cx="1874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A9F"/>
                </a:solidFill>
              </a:rPr>
              <a:t>iOS / Dark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12080" y="4069080"/>
            <a:ext cx="1874520" cy="1984248"/>
          </a:xfrm>
          <a:prstGeom prst="rect">
            <a:avLst/>
          </a:prstGeom>
          <a:solidFill>
            <a:srgbClr val="0D1424"/>
          </a:solidFill>
          <a:ln w="762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4206240"/>
            <a:ext cx="1417320" cy="14173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212080" y="5998464"/>
            <a:ext cx="1874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A9F"/>
                </a:solidFill>
              </a:rPr>
              <a:t>Transparent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79" y="4069080"/>
            <a:ext cx="1874520" cy="1984248"/>
          </a:xfrm>
          <a:prstGeom prst="rect">
            <a:avLst/>
          </a:prstGeom>
          <a:solidFill>
            <a:srgbClr val="0D1424"/>
          </a:solidFill>
          <a:ln w="762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79" y="4206240"/>
            <a:ext cx="1417320" cy="141732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498079" y="5998464"/>
            <a:ext cx="1874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A9F"/>
                </a:solidFill>
              </a:rPr>
              <a:t>Compact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84080" y="4069080"/>
            <a:ext cx="1874520" cy="1984248"/>
          </a:xfrm>
          <a:prstGeom prst="rect">
            <a:avLst/>
          </a:prstGeom>
          <a:solidFill>
            <a:srgbClr val="0D1424"/>
          </a:solidFill>
          <a:ln w="762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_splas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2680" y="4206240"/>
            <a:ext cx="1417320" cy="141732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784080" y="5998464"/>
            <a:ext cx="1874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A9F"/>
                </a:solidFill>
              </a:rPr>
              <a:t>Splash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58704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7A9F"/>
                </a:solidFill>
              </a:rPr>
              <a:t>DESIGN PRINCIPLES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6172200"/>
            <a:ext cx="2148840" cy="566928"/>
          </a:xfrm>
          <a:prstGeom prst="rect">
            <a:avLst/>
          </a:prstGeom>
          <a:solidFill>
            <a:srgbClr val="0D1424"/>
          </a:solidFill>
          <a:ln w="508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8096" y="624535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B69EFF"/>
                </a:solidFill>
              </a:rPr>
              <a:t>Dark-First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" y="64922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A9F"/>
                </a:solidFill>
              </a:rPr>
              <a:t>OLED dark optimised
zero eye strain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44368" y="6172200"/>
            <a:ext cx="2148840" cy="566928"/>
          </a:xfrm>
          <a:prstGeom prst="rect">
            <a:avLst/>
          </a:prstGeom>
          <a:solidFill>
            <a:srgbClr val="0D1424"/>
          </a:solidFill>
          <a:ln w="508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72384" y="624535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B69EFF"/>
                </a:solidFill>
              </a:rPr>
              <a:t>Glassmorphism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72384" y="64922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A9F"/>
                </a:solidFill>
              </a:rPr>
              <a:t>Blur layers, soft
borders and glow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48656" y="6172200"/>
            <a:ext cx="2148840" cy="566928"/>
          </a:xfrm>
          <a:prstGeom prst="rect">
            <a:avLst/>
          </a:prstGeom>
          <a:solidFill>
            <a:srgbClr val="0D1424"/>
          </a:solidFill>
          <a:ln w="508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76672" y="624535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B69EFF"/>
                </a:solidFill>
              </a:rPr>
              <a:t>Motion Language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76672" y="64922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A9F"/>
                </a:solidFill>
              </a:rPr>
              <a:t>Purposeful animations
elastic &amp; easing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52944" y="6172200"/>
            <a:ext cx="2148840" cy="566928"/>
          </a:xfrm>
          <a:prstGeom prst="rect">
            <a:avLst/>
          </a:prstGeom>
          <a:solidFill>
            <a:srgbClr val="0D1424"/>
          </a:solidFill>
          <a:ln w="508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80960" y="624535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B69EFF"/>
                </a:solidFill>
              </a:rPr>
              <a:t>Negative Space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80960" y="64922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A9F"/>
                </a:solidFill>
              </a:rPr>
              <a:t>Clean grids, generous
padding always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857232" y="6172200"/>
            <a:ext cx="2148840" cy="566928"/>
          </a:xfrm>
          <a:prstGeom prst="rect">
            <a:avLst/>
          </a:prstGeom>
          <a:solidFill>
            <a:srgbClr val="0D1424"/>
          </a:solidFill>
          <a:ln w="508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985248" y="624535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B69EFF"/>
                </a:solidFill>
              </a:rPr>
              <a:t>Design Tokens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85248" y="64922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A9F"/>
                </a:solidFill>
              </a:rPr>
              <a:t>Centralised palette
and typography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25912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A9F"/>
                </a:solidFill>
              </a:rPr>
              <a:t>011 / 12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A9F"/>
                </a:solidFill>
              </a:rPr>
              <a:t>B&amp;B  Real Estate &amp; Home Services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502920"/>
            <a:ext cx="50292" cy="5852160"/>
          </a:xfrm>
          <a:prstGeom prst="rect">
            <a:avLst/>
          </a:prstGeom>
          <a:solidFill>
            <a:srgbClr val="7C5CFC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pad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731520"/>
            <a:ext cx="2560320" cy="256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401568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B69E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2628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0BDDA"/>
                </a:solidFill>
              </a:rPr>
              <a:t>B&amp;B  —  Real Estate &amp; Home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5010912"/>
            <a:ext cx="5788152" cy="22860"/>
          </a:xfrm>
          <a:prstGeom prst="rect">
            <a:avLst/>
          </a:prstGeom>
          <a:solidFill>
            <a:srgbClr val="7C5CFC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0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A9F"/>
                </a:solidFill>
              </a:rPr>
              <a:t>Built with Flutter &amp; Laravel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5577840"/>
            <a:ext cx="8165592" cy="932688"/>
          </a:xfrm>
          <a:prstGeom prst="rect">
            <a:avLst/>
          </a:prstGeom>
          <a:solidFill>
            <a:srgbClr val="0D1424"/>
          </a:solidFill>
          <a:ln w="762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0" y="5577840"/>
            <a:ext cx="8165592" cy="22860"/>
          </a:xfrm>
          <a:prstGeom prst="rect">
            <a:avLst/>
          </a:prstGeom>
          <a:solidFill>
            <a:srgbClr val="7C5CFC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5669280"/>
            <a:ext cx="7799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69EFF"/>
                </a:solidFill>
              </a:rPr>
              <a:t>يوسف حسن محمد محمود  —  Team Leader  |  ID: 2320751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5961888"/>
            <a:ext cx="7799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B7A9F"/>
                </a:solidFill>
              </a:rPr>
              <a:t>ياسر علاء إبراهيم (2320731)  ·  يوسف محمد عيد رزق (2320766)  ·  يوسف مصطفى كامل (2320771)  ·  عمر ذكي محمد ذكي (2320405)  ·  رحمه عبدالحميد فؤاد (2320223)
أحمد محمد محمود عبدالكريم (2320904)  ·  بثينة مجدي أحمد محمد (2320157)  ·  مازن محمد إسماعيل أحمد (2320470)  ·  خلود عاطف عبداللطيف والى (2320213)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5912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A9F"/>
                </a:solidFill>
              </a:rPr>
              <a:t>12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A9F"/>
                </a:solidFill>
              </a:rPr>
              <a:t>B&amp;B  Real Estate &amp; Home Services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